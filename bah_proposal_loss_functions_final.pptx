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04600" y="4526940"/>
            <a:ext cx="8229600" cy="2539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C3C3C"/>
                </a:solidFill>
                <a:latin typeface="Arial"/>
              </a:defRPr>
            </a:pPr>
            <a:r>
              <a:rPr sz="1650" dirty="0"/>
              <a:t>Loss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83026" y="5173921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C3C3C"/>
                </a:solidFill>
                <a:latin typeface="Arial"/>
              </a:defRPr>
            </a:pPr>
            <a:r>
              <a:rPr dirty="0"/>
              <a:t>Prakhar Shrivastav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16859" y="5736364"/>
            <a:ext cx="77724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3C3C3C"/>
                </a:solidFill>
                <a:latin typeface="Arial"/>
              </a:defRPr>
            </a:pPr>
            <a:r>
              <a:rPr dirty="0"/>
              <a:t>Discovery of Hidden Lunar Subsurface 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00960" y="2499055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C3C3C"/>
                </a:solidFill>
                <a:latin typeface="Arial"/>
              </a:defRPr>
            </a:pPr>
            <a:r>
              <a:t>Prakhar Shrivastav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1039" y="2759659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t>IIIT Sonepat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27164" y="2499055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C3C3C"/>
                </a:solidFill>
                <a:latin typeface="Arial"/>
              </a:defRPr>
            </a:pPr>
            <a:r>
              <a:t>Sonu Sharma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96328" y="2759659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t>IIIT Sonepat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0960" y="489295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C3C3C"/>
                </a:solidFill>
                <a:latin typeface="Arial"/>
              </a:defRPr>
            </a:pPr>
            <a:r>
              <a:t>Vinit 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1039" y="515355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3C3C3C"/>
                </a:solidFill>
                <a:latin typeface="Arial"/>
              </a:defRPr>
            </a:pPr>
            <a:r>
              <a:t>IIIT Sonepat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7164" y="489295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N/A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6328" y="515355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N/A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383280"/>
            <a:ext cx="108173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Arial"/>
              </a:defRPr>
            </a:pPr>
            <a:r>
              <a:t>1. How different is it from existing ideas?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Instead of relying on simple, single-sensor radar backscatter thresholding (which easily misclassifies rocky layers as ice), our framework performs multi-sensor data fusion. We cross-verify polarimetric DFSAR radar Stoke parameters directly with High-Resolution Optical OHRC imagery to eliminate surface-roughness false positives.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2. How will it solve the problem?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It processes raw DFSAR matrices to compute CPR/DOP parameters, maps local elevation models to solve landing corridor safety constraints, and implements a real-time D* Lite rover pathfinding simulation to plot traversal paths.</a:t>
            </a:r>
          </a:p>
          <a:p>
            <a:pPr>
              <a:spcBef>
                <a:spcPts val="1200"/>
              </a:spcBef>
              <a:defRPr sz="1500" b="1">
                <a:solidFill>
                  <a:srgbClr val="FF6600"/>
                </a:solidFill>
                <a:latin typeface="Arial"/>
              </a:defRPr>
            </a:pPr>
            <a:r>
              <a:t>3. USP of the proposed solution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An energy-aware routing engine that tracks shadow movements to keep the rover safe, ensuring 70-hour shadow survival inside craters, backed by an offline, O(1) look-up table classifier optimized for space-bound processors.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3218688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1. Polarimetric Stokes Parameters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Fuses radar backscatter vectors to calculate CPR and DOP maps.</a:t>
            </a:r>
          </a:p>
          <a:p>
            <a:pPr>
              <a:spcBef>
                <a:spcPts val="1000"/>
              </a:spcBef>
              <a:defRPr sz="1400" b="1">
                <a:solidFill>
                  <a:srgbClr val="000000"/>
                </a:solidFill>
                <a:latin typeface="Arial"/>
              </a:defRPr>
            </a:pPr>
            <a:r>
              <a:t>2. Landing MCDA Optimizer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Employs an AHP decision matrix to find safe slopes and landing zones.</a:t>
            </a:r>
          </a:p>
          <a:p>
            <a:pPr>
              <a:spcBef>
                <a:spcPts val="1000"/>
              </a:spcBef>
              <a:defRPr sz="1400" b="1">
                <a:solidFill>
                  <a:srgbClr val="000000"/>
                </a:solidFill>
                <a:latin typeface="Arial"/>
              </a:defRPr>
            </a:pPr>
            <a:r>
              <a:t>3. Subsurface Depth Inversion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Uses dielectric equations to estimate water-ice volume up to 5 meters deep.</a:t>
            </a:r>
          </a:p>
          <a:p>
            <a:pPr>
              <a:spcBef>
                <a:spcPts val="1000"/>
              </a:spcBef>
              <a:defRPr sz="1400" b="1">
                <a:solidFill>
                  <a:srgbClr val="000000"/>
                </a:solidFill>
                <a:latin typeface="Arial"/>
              </a:defRPr>
            </a:pPr>
            <a:r>
              <a:t>4. Dynamic Traverse Pathfinder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Routes traverse paths using D* Lite under solar battery depletion profiles.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7432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6600"/>
                </a:solidFill>
                <a:latin typeface="Courier New"/>
              </a:defRPr>
            </a:pPr>
            <a:r>
              <a:t>[ 3D Lunar Craters Viewport Concept ]</a:t>
            </a:r>
          </a:p>
          <a:p>
            <a:br/>
            <a:r>
              <a:t>+-------------------------------------------------+</a:t>
            </a:r>
            <a:br/>
            <a:r>
              <a:t>|  [ 3D Moon Surface Mesh Viewport ]             |</a:t>
            </a:r>
            <a:br/>
            <a:r>
              <a:t>|  - Shadow Overlay: Dark Blue Shaded             |</a:t>
            </a:r>
            <a:br/>
            <a:r>
              <a:t>|  - Subsurface Ice: Cyan Glow Points             |</a:t>
            </a:r>
            <a:br/>
            <a:r>
              <a:t>+-------------------------------------------------+</a:t>
            </a:r>
            <a:br/>
            <a:r>
              <a:t>|  [ Dielectric Curve ] [ Rover Solar Telemetry ]  |</a:t>
            </a:r>
            <a:br/>
            <a:r>
              <a:t>+-------------------------------------------------+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274320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1. Ingestion</a:t>
            </a:r>
            <a:br/>
            <a:r>
              <a:t>(DFSAR, OHRC, DEM)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51760" y="324612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80360" y="274320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2. Processing</a:t>
            </a:r>
            <a:br/>
            <a:r>
              <a:t>(CPR, DOP, m-chi)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46320" y="324612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74920" y="274320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3. Landing MCDA</a:t>
            </a:r>
            <a:br/>
            <a:r>
              <a:t>(Slope &amp; Boulders)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40880" y="324612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9479" y="274320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4. Simulation</a:t>
            </a:r>
            <a:br/>
            <a:r>
              <a:t>(D* Lite Pathfinder)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35439" y="324612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64040" y="2743200"/>
            <a:ext cx="192024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5. Output</a:t>
            </a:r>
            <a:br/>
            <a:r>
              <a:t>(Dielectric Report)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Arial"/>
              </a:defRPr>
            </a:pPr>
            <a:r>
              <a:t>Pipeline Execution Details:</a:t>
            </a:r>
          </a:p>
          <a:p>
            <a:pPr>
              <a:spcBef>
                <a:spcPts val="5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Our pipeline registers radar &amp; camera layers -&gt; extracts polarimetric Stokes parameters -&gt; maps slope &amp; landing safety metrics -&gt; calculates energy-aware traverse lines -&gt; outputs estimated subsurface ice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0000"/>
                </a:solidFill>
                <a:latin typeface="Arial"/>
              </a:defRPr>
            </a:pPr>
            <a:r>
              <a:t>- Interactive 3D Viewport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Visualizes the terrain elevation grid of Faustini Crater with interactive rotation and zooming. Highlights safe landing corridors and ice zones.</a:t>
            </a:r>
          </a:p>
          <a:p>
            <a:pPr>
              <a:spcBef>
                <a:spcPts val="15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- Analytical Graphs Panel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Displays subsurface dielectric profiles, CPR histograms, and depth estimation curves up to 5 meters.</a:t>
            </a:r>
          </a:p>
          <a:p>
            <a:pPr>
              <a:spcBef>
                <a:spcPts val="1500"/>
              </a:spcBef>
              <a:defRPr sz="1600" b="1">
                <a:solidFill>
                  <a:srgbClr val="000000"/>
                </a:solidFill>
                <a:latin typeface="Arial"/>
              </a:defRPr>
            </a:pPr>
            <a:r>
              <a:t>- Rover Status HUD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  <a:latin typeface="Arial"/>
              </a:defRPr>
            </a:pPr>
            <a:r>
              <a:t>Shows battery levels, solar cell power metrics, traversal progress, and dynamic rerouting triggers.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2560320"/>
            <a:ext cx="246888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1. Data Ingestion Layer</a:t>
            </a:r>
          </a:p>
          <a:p>
            <a:br/>
            <a:r>
              <a:t>DFSAR polarimetric radar granules + OHRC optical imagery + LOLA DEM elevation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37560" y="2560320"/>
            <a:ext cx="246888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2. Physics-Informed Engine</a:t>
            </a:r>
          </a:p>
          <a:p>
            <a:br/>
            <a:r>
              <a:t>Stokes Matrix parameter computation, polarimetric decomposition, and AHP-based landing MCDA solver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89320" y="2560320"/>
            <a:ext cx="246888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3. Traversal Simulation</a:t>
            </a:r>
          </a:p>
          <a:p>
            <a:br/>
            <a:r>
              <a:t>O(1) look-up table ice classifier, D* Lite path planning, and solar/battery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1080" y="2560320"/>
            <a:ext cx="2468880" cy="2377440"/>
          </a:xfrm>
          <a:prstGeom prst="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  <a:latin typeface="Arial"/>
              </a:defRPr>
            </a:pPr>
            <a:r>
              <a:t>4. Presentation Dashboard</a:t>
            </a:r>
          </a:p>
          <a:p>
            <a:br/>
            <a:r>
              <a:t>Interactive Three.js 3D viewport, real-time telemetry metrics, and traversal trajectory maps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Satellite Data Processing: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GDAL, Rasterio, PyProj (managing polar coordinates and geospatial tile transformations).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Computing &amp; Math Modules: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Python, NumPy, SciPy, Pandas (efficient processing of Stokes and backscatter matrices).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Physics &amp; Curve Fitting: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PyTorch, batman, emcee (dielectric constant inversion and confidence models).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Network Routing &amp; Pathing: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NetworkX (handling elevation graphs and obstacle cost matrices).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API Serving &amp; Docker: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FastAPI, Uvicorn, Docker (fast, containerized serving on micro-compute targets).</a:t>
            </a:r>
          </a:p>
          <a:p>
            <a:pPr>
              <a:spcBef>
                <a:spcPts val="12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• Visual Presentation:</a:t>
            </a:r>
          </a:p>
          <a:p>
            <a:pPr>
              <a:spcBef>
                <a:spcPts val="2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HTML5, CSS3, Three.js / React-Three-Fiber (rendering interactive 3D crater meshes in browser).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2011680"/>
            <a:ext cx="108173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0000"/>
                </a:solidFill>
                <a:latin typeface="Arial"/>
              </a:defRPr>
            </a:pPr>
            <a:r>
              <a:t>- Open-Source Licensing</a:t>
            </a:r>
          </a:p>
          <a:p>
            <a:pPr>
              <a:spcBef>
                <a:spcPts val="3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₹0 — Built entirely using open-source tools (Python, GDAL, Three.js). No commercial licensing fees.</a:t>
            </a:r>
          </a:p>
          <a:p>
            <a:pPr>
              <a:spcBef>
                <a:spcPts val="15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- Development Hardware</a:t>
            </a:r>
          </a:p>
          <a:p>
            <a:pPr>
              <a:spcBef>
                <a:spcPts val="3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₹0 — The analytical pipeline is optimized to run on standard CPU workstations, avoiding expensive multi-GPU servers.</a:t>
            </a:r>
          </a:p>
          <a:p>
            <a:pPr>
              <a:spcBef>
                <a:spcPts val="15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- Cloud Infrastructure (Hosting &amp; Compute)</a:t>
            </a:r>
          </a:p>
          <a:p>
            <a:pPr>
              <a:spcBef>
                <a:spcPts val="3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₹1,700 / month</a:t>
            </a:r>
            <a:br/>
            <a:r>
              <a:t>- High-speed storage (100 GB DFSAR tiles): ₹500/month (AWS S3 / Google Cloud Storage).</a:t>
            </a:r>
            <a:br/>
            <a:r>
              <a:t>- Web API hosting and CPU routing computation: ₹1,200/month (Google Cloud Run / AWS EC2).</a:t>
            </a:r>
          </a:p>
          <a:p>
            <a:pPr>
              <a:spcBef>
                <a:spcPts val="1500"/>
              </a:spcBef>
              <a:defRPr sz="1500" b="1">
                <a:solidFill>
                  <a:srgbClr val="000000"/>
                </a:solidFill>
                <a:latin typeface="Arial"/>
              </a:defRPr>
            </a:pPr>
            <a:r>
              <a:t>- Scalability</a:t>
            </a:r>
          </a:p>
          <a:p>
            <a:pPr>
              <a:spcBef>
                <a:spcPts val="300"/>
              </a:spcBef>
              <a:defRPr sz="1200">
                <a:solidFill>
                  <a:srgbClr val="3C3C3C"/>
                </a:solidFill>
                <a:latin typeface="Arial"/>
              </a:defRPr>
            </a:pPr>
            <a:r>
              <a:t>Our lightweight architecture ensures minimal operational compute, making scaling to new lunar scenes extremely cost-effective.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6600"/>
                </a:solidFill>
                <a:latin typeface="Courier New"/>
              </a:defRPr>
            </a:pPr>
            <a:r>
              <a:t>Team Name: Loss Functions  |  Contact: lossfunctions@iiitsonepat.ac.in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791</Words>
  <Application>Microsoft Office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HP5CD5061M90@hotmail.com</cp:lastModifiedBy>
  <cp:revision>2</cp:revision>
  <dcterms:created xsi:type="dcterms:W3CDTF">2013-01-27T09:14:16Z</dcterms:created>
  <dcterms:modified xsi:type="dcterms:W3CDTF">2026-06-30T13:08:18Z</dcterms:modified>
  <cp:category/>
</cp:coreProperties>
</file>