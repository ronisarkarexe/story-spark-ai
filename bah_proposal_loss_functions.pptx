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83280" y="44805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C3C3C"/>
                </a:solidFill>
                <a:latin typeface="Arial"/>
              </a:defRPr>
            </a:pPr>
            <a:r>
              <a:rPr dirty="0"/>
              <a:t>Loss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4937760"/>
            <a:ext cx="63919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C3C3C"/>
                </a:solidFill>
                <a:latin typeface="Arial"/>
              </a:defRPr>
            </a:pPr>
            <a:r>
              <a:rPr dirty="0"/>
              <a:t>Prakhar Shrivastav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9706" y="5671738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C3C3C"/>
                </a:solidFill>
                <a:latin typeface="Arial"/>
              </a:defRPr>
            </a:pPr>
            <a:r>
              <a:t>PS-08: Discovery of Hidden Lunar Subsurface 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7084" y="275303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03120" y="2084831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3C3C"/>
                </a:solidFill>
              </a:defRPr>
            </a:pPr>
            <a:r>
              <a:rPr dirty="0"/>
              <a:t>Prakhar Shrivastav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423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IIIT Sonepat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2084831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3C3C"/>
                </a:solidFill>
              </a:defRPr>
            </a:pPr>
            <a:r>
              <a:t>Sonu Sharma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2423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IIIT Sonepat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370832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3C3C"/>
                </a:solidFill>
              </a:defRPr>
            </a:pPr>
            <a:r>
              <a:t>Vinit Kumar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709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IIIT Sonepat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4370832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N/A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4709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N/A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  <a:latin typeface="Arial"/>
              </a:defRPr>
            </a:pPr>
            <a:r>
              <a:t>Our solution implements dual-frequency multi-sensor validation (DFSAR polarimetric Stokes parameters + OHRC optical imagery). This approach isolates subsurface ice dielectric constants and eliminates false positives caused by surface roughness that standard radar thresholding misses.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  <a:latin typeface="Arial"/>
              </a:defRPr>
            </a:pPr>
            <a:r>
              <a:t>By calculating pixel-level CPR and DOP values to map ice boundaries, performing MCDA decision ranking to identify optimal landing sites, and simulating dynamic battery depletion grids using a custom D* Lite rover pathfinder.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  <a:latin typeface="Arial"/>
              </a:defRPr>
            </a:pPr>
            <a:r>
              <a:t>Features an energy-aware traverse pathfinder that maps shadow progression over time, guaranteeing up to 70 hours of shadow survival for the rover, combined with an O(1) onboard lookup table for offline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  <a:latin typeface="Arial"/>
              </a:defRPr>
            </a:pPr>
            <a:r>
              <a:t>1. Stokes Parameters Calculation</a:t>
            </a:r>
          </a:p>
          <a:p>
            <a:pPr>
              <a:spcBef>
                <a:spcPts val="2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Generates high-resolution CPR and DOP maps from raw DFSAR radar grids.</a:t>
            </a:r>
          </a:p>
          <a:p>
            <a:pPr>
              <a:spcBef>
                <a:spcPts val="1000"/>
              </a:spcBef>
              <a:defRPr sz="1500" b="1">
                <a:solidFill>
                  <a:srgbClr val="000000"/>
                </a:solidFill>
                <a:latin typeface="Arial"/>
              </a:defRPr>
            </a:pPr>
            <a:r>
              <a:t>2. MCDA Landing Evaluator</a:t>
            </a:r>
          </a:p>
          <a:p>
            <a:pPr>
              <a:spcBef>
                <a:spcPts val="2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Uses AHP decision matrix to select safe landing zones based on slope and roughness.</a:t>
            </a:r>
          </a:p>
          <a:p>
            <a:pPr>
              <a:spcBef>
                <a:spcPts val="1000"/>
              </a:spcBef>
              <a:defRPr sz="1500" b="1">
                <a:solidFill>
                  <a:srgbClr val="000000"/>
                </a:solidFill>
                <a:latin typeface="Arial"/>
              </a:defRPr>
            </a:pPr>
            <a:r>
              <a:t>3. Subsurface Dielectric Inversion</a:t>
            </a:r>
          </a:p>
          <a:p>
            <a:pPr>
              <a:spcBef>
                <a:spcPts val="2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Quantifies composition and estimates water-ice volume up to 5 meters deep.</a:t>
            </a:r>
          </a:p>
          <a:p>
            <a:pPr>
              <a:spcBef>
                <a:spcPts val="1000"/>
              </a:spcBef>
              <a:defRPr sz="1500" b="1">
                <a:solidFill>
                  <a:srgbClr val="000000"/>
                </a:solidFill>
                <a:latin typeface="Arial"/>
              </a:defRPr>
            </a:pPr>
            <a:r>
              <a:t>4. Energy-Aware Traversal Planner</a:t>
            </a:r>
          </a:p>
          <a:p>
            <a:pPr>
              <a:spcBef>
                <a:spcPts val="2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Simulates solar shadow overlays, battery capacity decay, and optimal routing.</a:t>
            </a:r>
          </a:p>
          <a:p>
            <a:pPr>
              <a:spcBef>
                <a:spcPts val="1000"/>
              </a:spcBef>
              <a:defRPr sz="1500" b="1">
                <a:solidFill>
                  <a:srgbClr val="000000"/>
                </a:solidFill>
                <a:latin typeface="Arial"/>
              </a:defRPr>
            </a:pPr>
            <a:r>
              <a:t>5. 3D Space Mission Portal</a:t>
            </a:r>
          </a:p>
          <a:p>
            <a:pPr>
              <a:spcBef>
                <a:spcPts val="2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An interactive Three.js dashboard to explore craters and traverse plans in real-time.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600"/>
                </a:solidFill>
                <a:latin typeface="Courier New"/>
              </a:defRPr>
            </a:pPr>
            <a:r>
              <a:t>[ 3D Lunar Craters Viewport Concept ]</a:t>
            </a:r>
          </a:p>
          <a:p>
            <a:br/>
            <a:br/>
            <a:r>
              <a:t>+-----------------------------------------------+</a:t>
            </a:r>
            <a:br/>
            <a:r>
              <a:t>|  [ 3D Moon Surface Mesh Viewport ]           |</a:t>
            </a:r>
            <a:br/>
            <a:r>
              <a:t>|  - Shadow Overlay: Dark Blue Shaded           |</a:t>
            </a:r>
            <a:br/>
            <a:r>
              <a:t>|  - Subsurface Ice: Cyan Glow Points           |</a:t>
            </a:r>
            <a:br/>
            <a:r>
              <a:t>+-----------------------------------------------+</a:t>
            </a:r>
            <a:br/>
            <a:r>
              <a:t>|  [ Dielectric Curve ] [ Rover Solar Telemetry ]|</a:t>
            </a:r>
            <a:br/>
            <a:r>
              <a:t>+-----------------------------------------------+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0"/>
            <a:ext cx="192024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1. Ingestion</a:t>
            </a:r>
            <a:br/>
            <a:r>
              <a:t>(DFSAR, OHRC, DEM)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51760" y="3474720"/>
            <a:ext cx="18288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80360" y="2926080"/>
            <a:ext cx="192024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2. Processing</a:t>
            </a:r>
            <a:br/>
            <a:r>
              <a:t>(CPR, DOP, m-chi)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46320" y="3474720"/>
            <a:ext cx="18288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74920" y="2926080"/>
            <a:ext cx="192024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3. Landing MCDA</a:t>
            </a:r>
            <a:br/>
            <a:r>
              <a:t>(Slope &amp; Boulder)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40880" y="3474720"/>
            <a:ext cx="18288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69479" y="2926080"/>
            <a:ext cx="192024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4. Simulation</a:t>
            </a:r>
            <a:br/>
            <a:r>
              <a:t>(D* Lite Pathfinder)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235439" y="3474720"/>
            <a:ext cx="18288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64040" y="2926080"/>
            <a:ext cx="192024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5. Out</a:t>
            </a:r>
            <a:br/>
            <a:r>
              <a:t>(Dielectric Report)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  <a:latin typeface="Arial"/>
              </a:defRPr>
            </a:pPr>
            <a:r>
              <a:t>Pipeline Execution Details:</a:t>
            </a:r>
          </a:p>
          <a:p>
            <a:pPr>
              <a:spcBef>
                <a:spcPts val="500"/>
              </a:spcBef>
              <a:defRPr sz="1300">
                <a:solidFill>
                  <a:srgbClr val="3C3C3C"/>
                </a:solidFill>
                <a:latin typeface="Arial"/>
              </a:defRPr>
            </a:pPr>
            <a:r>
              <a:t>Our pipeline registers radar &amp; camera layers -&gt; extracts polarimetric Stokes parameters -&gt; maps slope &amp; landing safety metrics -&gt; calculates energy-aware traverse lines -&gt; outputs estimated subsurface ice volume.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01168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  <a:latin typeface="Arial"/>
              </a:defRPr>
            </a:pPr>
            <a:r>
              <a:t>- 3D Viewport Interface</a:t>
            </a:r>
          </a:p>
          <a:p>
            <a:pPr>
              <a:spcBef>
                <a:spcPts val="300"/>
              </a:spcBef>
              <a:defRPr sz="1300">
                <a:solidFill>
                  <a:srgbClr val="3C3C3C"/>
                </a:solidFill>
                <a:latin typeface="Arial"/>
              </a:defRPr>
            </a:pPr>
            <a:r>
              <a:t>Visualizes the terrain elevation grid of Faustini Crater with interactive rotation and zooming. Highlights safe landing corridors and ice zones.</a:t>
            </a:r>
          </a:p>
          <a:p>
            <a:pPr>
              <a:spcBef>
                <a:spcPts val="1500"/>
              </a:spcBef>
              <a:defRPr sz="1600" b="1">
                <a:solidFill>
                  <a:srgbClr val="000000"/>
                </a:solidFill>
                <a:latin typeface="Arial"/>
              </a:defRPr>
            </a:pPr>
            <a:r>
              <a:t>- Analytical Graphs Panel</a:t>
            </a:r>
          </a:p>
          <a:p>
            <a:pPr>
              <a:spcBef>
                <a:spcPts val="300"/>
              </a:spcBef>
              <a:defRPr sz="1300">
                <a:solidFill>
                  <a:srgbClr val="3C3C3C"/>
                </a:solidFill>
                <a:latin typeface="Arial"/>
              </a:defRPr>
            </a:pPr>
            <a:r>
              <a:t>Displays subsurface dielectric profiles, CPR histograms, and depth estimation curves up to 5 meters.</a:t>
            </a:r>
          </a:p>
          <a:p>
            <a:pPr>
              <a:spcBef>
                <a:spcPts val="1500"/>
              </a:spcBef>
              <a:defRPr sz="1600" b="1">
                <a:solidFill>
                  <a:srgbClr val="000000"/>
                </a:solidFill>
                <a:latin typeface="Arial"/>
              </a:defRPr>
            </a:pPr>
            <a:r>
              <a:t>- Rover Status HUD</a:t>
            </a:r>
          </a:p>
          <a:p>
            <a:pPr>
              <a:spcBef>
                <a:spcPts val="300"/>
              </a:spcBef>
              <a:defRPr sz="1300">
                <a:solidFill>
                  <a:srgbClr val="3C3C3C"/>
                </a:solidFill>
                <a:latin typeface="Arial"/>
              </a:defRPr>
            </a:pPr>
            <a:r>
              <a:t>Shows battery levels, solar cell power metrics, traversal progress, and dynamic rerouting triggers.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2560320"/>
            <a:ext cx="2468880" cy="237744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8BDF8"/>
                </a:solidFill>
                <a:latin typeface="Arial"/>
              </a:defRPr>
            </a:pPr>
            <a:r>
              <a:t>1. Data Ingestion Layer</a:t>
            </a:r>
          </a:p>
          <a:p>
            <a:br/>
            <a:r>
              <a:t>DFSAR polarimetric radar granules + OHRC optical imagery + LOLA DEM elevation datasets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37560" y="2560320"/>
            <a:ext cx="2468880" cy="237744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8BDF8"/>
                </a:solidFill>
                <a:latin typeface="Arial"/>
              </a:defRPr>
            </a:pPr>
            <a:r>
              <a:t>2. Physics-Informed Engine</a:t>
            </a:r>
          </a:p>
          <a:p>
            <a:br/>
            <a:r>
              <a:t>Stokes Matrix parameter computation, polarimetric decomposition, and AHP-based landing MCDA solver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89320" y="2560320"/>
            <a:ext cx="2468880" cy="237744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8BDF8"/>
                </a:solidFill>
                <a:latin typeface="Arial"/>
              </a:defRPr>
            </a:pPr>
            <a:r>
              <a:t>3. Traversal Simulation</a:t>
            </a:r>
          </a:p>
          <a:p>
            <a:br/>
            <a:r>
              <a:t>O(1) look-up table ice classifier, D* Lite path planning, and solar/battery simulator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8641080" y="2560320"/>
            <a:ext cx="2468880" cy="237744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8BDF8"/>
                </a:solidFill>
                <a:latin typeface="Arial"/>
              </a:defRPr>
            </a:pPr>
            <a:r>
              <a:t>4. Presentation Dashboard</a:t>
            </a:r>
          </a:p>
          <a:p>
            <a:br/>
            <a:r>
              <a:t>Interactive Three.js 3D viewport, real-time telemetry metrics, and traversal trajectory maps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01168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  <a:latin typeface="Arial"/>
              </a:defRPr>
            </a:pPr>
            <a:r>
              <a:t>• Satellite Data Processing:</a:t>
            </a:r>
          </a:p>
          <a:p>
            <a:pPr>
              <a:spcBef>
                <a:spcPts val="2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GDAL, Rasterio, PyProj (managing polar coordinates and geospatial tile transformations).</a:t>
            </a:r>
          </a:p>
          <a:p>
            <a:pPr>
              <a:spcBef>
                <a:spcPts val="1200"/>
              </a:spcBef>
              <a:defRPr sz="1500" b="1">
                <a:solidFill>
                  <a:srgbClr val="000000"/>
                </a:solidFill>
                <a:latin typeface="Arial"/>
              </a:defRPr>
            </a:pPr>
            <a:r>
              <a:t>• Computing &amp; Math Modules:</a:t>
            </a:r>
          </a:p>
          <a:p>
            <a:pPr>
              <a:spcBef>
                <a:spcPts val="2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Python, NumPy, SciPy, Pandas (efficient processing of Stokes and backscatter matrices).</a:t>
            </a:r>
          </a:p>
          <a:p>
            <a:pPr>
              <a:spcBef>
                <a:spcPts val="1200"/>
              </a:spcBef>
              <a:defRPr sz="1500" b="1">
                <a:solidFill>
                  <a:srgbClr val="000000"/>
                </a:solidFill>
                <a:latin typeface="Arial"/>
              </a:defRPr>
            </a:pPr>
            <a:r>
              <a:t>• Physics &amp; Curve Fitting:</a:t>
            </a:r>
          </a:p>
          <a:p>
            <a:pPr>
              <a:spcBef>
                <a:spcPts val="2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PyTorch, batman, emcee (dielectric constant inversion and confidence models).</a:t>
            </a:r>
          </a:p>
          <a:p>
            <a:pPr>
              <a:spcBef>
                <a:spcPts val="1200"/>
              </a:spcBef>
              <a:defRPr sz="1500" b="1">
                <a:solidFill>
                  <a:srgbClr val="000000"/>
                </a:solidFill>
                <a:latin typeface="Arial"/>
              </a:defRPr>
            </a:pPr>
            <a:r>
              <a:t>• Network Routing &amp; Pathing:</a:t>
            </a:r>
          </a:p>
          <a:p>
            <a:pPr>
              <a:spcBef>
                <a:spcPts val="2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NetworkX (handling elevation graphs and obstacle cost matrices).</a:t>
            </a:r>
          </a:p>
          <a:p>
            <a:pPr>
              <a:spcBef>
                <a:spcPts val="1200"/>
              </a:spcBef>
              <a:defRPr sz="1500" b="1">
                <a:solidFill>
                  <a:srgbClr val="000000"/>
                </a:solidFill>
                <a:latin typeface="Arial"/>
              </a:defRPr>
            </a:pPr>
            <a:r>
              <a:t>• API Serving &amp; Docker:</a:t>
            </a:r>
          </a:p>
          <a:p>
            <a:pPr>
              <a:spcBef>
                <a:spcPts val="2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FastAPI, Uvicorn, Docker (fast, containerized serving on micro-compute targets).</a:t>
            </a:r>
          </a:p>
          <a:p>
            <a:pPr>
              <a:spcBef>
                <a:spcPts val="1200"/>
              </a:spcBef>
              <a:defRPr sz="1500" b="1">
                <a:solidFill>
                  <a:srgbClr val="000000"/>
                </a:solidFill>
                <a:latin typeface="Arial"/>
              </a:defRPr>
            </a:pPr>
            <a:r>
              <a:t>• Visual Presentation:</a:t>
            </a:r>
          </a:p>
          <a:p>
            <a:pPr>
              <a:spcBef>
                <a:spcPts val="2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HTML5, CSS3, Three.js / React-Three-Fiber (rendering interactive 3D crater meshes in browser).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01168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  <a:latin typeface="Arial"/>
              </a:defRPr>
            </a:pPr>
            <a:r>
              <a:t>- Open-Source Licensing</a:t>
            </a:r>
          </a:p>
          <a:p>
            <a:pPr>
              <a:spcBef>
                <a:spcPts val="3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₹0 — Built entirely using open-source tools (Python, GDAL, Three.js). No commercial licensing fees.</a:t>
            </a:r>
          </a:p>
          <a:p>
            <a:pPr>
              <a:spcBef>
                <a:spcPts val="1500"/>
              </a:spcBef>
              <a:defRPr sz="1500" b="1">
                <a:solidFill>
                  <a:srgbClr val="000000"/>
                </a:solidFill>
                <a:latin typeface="Arial"/>
              </a:defRPr>
            </a:pPr>
            <a:r>
              <a:t>- Development Hardware</a:t>
            </a:r>
          </a:p>
          <a:p>
            <a:pPr>
              <a:spcBef>
                <a:spcPts val="3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₹0 — The analytical pipeline is optimized to run on standard CPU workstations, avoiding expensive multi-GPU servers.</a:t>
            </a:r>
          </a:p>
          <a:p>
            <a:pPr>
              <a:spcBef>
                <a:spcPts val="1500"/>
              </a:spcBef>
              <a:defRPr sz="1500" b="1">
                <a:solidFill>
                  <a:srgbClr val="000000"/>
                </a:solidFill>
                <a:latin typeface="Arial"/>
              </a:defRPr>
            </a:pPr>
            <a:r>
              <a:t>- Cloud Infrastructure (Hosting &amp; Compute)</a:t>
            </a:r>
          </a:p>
          <a:p>
            <a:pPr>
              <a:spcBef>
                <a:spcPts val="3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₹1,700 / month</a:t>
            </a:r>
            <a:br/>
            <a:r>
              <a:t>- High-speed storage (100 GB DFSAR tiles): ₹500/month (AWS S3 / Google Cloud Storage).</a:t>
            </a:r>
            <a:br/>
            <a:r>
              <a:t>- Web API hosting and CPU routing computation: ₹1,200/month (Google Cloud Run / AWS EC2).</a:t>
            </a:r>
          </a:p>
          <a:p>
            <a:pPr>
              <a:spcBef>
                <a:spcPts val="1500"/>
              </a:spcBef>
              <a:defRPr sz="1500" b="1">
                <a:solidFill>
                  <a:srgbClr val="000000"/>
                </a:solidFill>
                <a:latin typeface="Arial"/>
              </a:defRPr>
            </a:pPr>
            <a:r>
              <a:t>- Scalability</a:t>
            </a:r>
          </a:p>
          <a:p>
            <a:pPr>
              <a:spcBef>
                <a:spcPts val="3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Our lightweight architecture ensures minimal operational compute, making scaling to new lunar scenes extremely cost-effective.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303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6600"/>
                </a:solidFill>
                <a:latin typeface="Courier New"/>
              </a:defRPr>
            </a:pPr>
            <a:r>
              <a:t>Team Name: Loss Functions  |  Contact: lossfunctions@iiitsonepat.ac.in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781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HP5CD5061M90@hotmail.com</cp:lastModifiedBy>
  <cp:revision>2</cp:revision>
  <dcterms:created xsi:type="dcterms:W3CDTF">2013-01-27T09:14:16Z</dcterms:created>
  <dcterms:modified xsi:type="dcterms:W3CDTF">2026-06-30T13:08:23Z</dcterms:modified>
  <cp:category/>
</cp:coreProperties>
</file>